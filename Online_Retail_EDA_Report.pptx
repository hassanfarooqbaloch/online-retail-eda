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STRAWBERRY CERAMIC TRINKET BOX</c:v>
                </c:pt>
                <c:pt idx="1">
                  <c:v>SMALL POPCORN HOLDER</c:v>
                </c:pt>
                <c:pt idx="2">
                  <c:v>JUMBO BAG RED RETROSPOT</c:v>
                </c:pt>
                <c:pt idx="3">
                  <c:v>PACK OF 60 PINK PAISLEY CAKE CASES</c:v>
                </c:pt>
                <c:pt idx="4">
                  <c:v>60 TEATIME FAIRY CAKE CASES</c:v>
                </c:pt>
                <c:pt idx="5">
                  <c:v>ASSORTED COLOUR BIRD ORNAMENT</c:v>
                </c:pt>
                <c:pt idx="6">
                  <c:v>PACK OF 72 RETRO SPOT CAKE CASES</c:v>
                </c:pt>
                <c:pt idx="7">
                  <c:v>BROCADE RING PURSE</c:v>
                </c:pt>
                <c:pt idx="8">
                  <c:v>WORLD WAR 2 GLIDERS ASSTD DESIGNS</c:v>
                </c:pt>
                <c:pt idx="9">
                  <c:v>WHITE HANGING HEART T-LIGHT HOLDER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26563</c:v>
                </c:pt>
                <c:pt idx="1">
                  <c:v>29500</c:v>
                </c:pt>
                <c:pt idx="2">
                  <c:v>30727</c:v>
                </c:pt>
                <c:pt idx="3">
                  <c:v>31822</c:v>
                </c:pt>
                <c:pt idx="4">
                  <c:v>36326</c:v>
                </c:pt>
                <c:pt idx="5">
                  <c:v>44925</c:v>
                </c:pt>
                <c:pt idx="6">
                  <c:v>46106</c:v>
                </c:pt>
                <c:pt idx="7">
                  <c:v>47647</c:v>
                </c:pt>
                <c:pt idx="8">
                  <c:v>54698</c:v>
                </c:pt>
                <c:pt idx="9">
                  <c:v>57733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6F-4867-86B0-5749B430AA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DE3E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spPr>
            <a:solidFill>
              <a:srgbClr val="162447"/>
            </a:solidFill>
            <a:effectLst/>
          </c:spPr>
          <c:invertIfNegative val="0"/>
          <c:dLbls>
            <c:numFmt formatCode="\£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JUMBO BAG STRAWBERRY</c:v>
                </c:pt>
                <c:pt idx="1">
                  <c:v>POSTAGE</c:v>
                </c:pt>
                <c:pt idx="2">
                  <c:v>ROTATING SILVER ANGELS T-LIGHT HLDR</c:v>
                </c:pt>
                <c:pt idx="3">
                  <c:v>PARTY BUNTING</c:v>
                </c:pt>
                <c:pt idx="4">
                  <c:v>JUMBO BAG RED RETROSPOT</c:v>
                </c:pt>
                <c:pt idx="5">
                  <c:v>PAPER CHAIN KIT 50'S CHRISTMAS</c:v>
                </c:pt>
                <c:pt idx="6">
                  <c:v>ASSORTED COLOUR BIRD ORNAMENT</c:v>
                </c:pt>
                <c:pt idx="7">
                  <c:v>DOTCOM POSTAGE</c:v>
                </c:pt>
                <c:pt idx="8">
                  <c:v>WHITE HANGING HEART T-LIGHT HOLDER</c:v>
                </c:pt>
                <c:pt idx="9">
                  <c:v>REGENCY CAKESTAND 3 TIER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36699.61</c:v>
                </c:pt>
                <c:pt idx="1">
                  <c:v>46092.36</c:v>
                </c:pt>
                <c:pt idx="2">
                  <c:v>47672.49</c:v>
                </c:pt>
                <c:pt idx="3">
                  <c:v>49645.52</c:v>
                </c:pt>
                <c:pt idx="4">
                  <c:v>56444.61</c:v>
                </c:pt>
                <c:pt idx="5">
                  <c:v>57870.2</c:v>
                </c:pt>
                <c:pt idx="6">
                  <c:v>72454.12</c:v>
                </c:pt>
                <c:pt idx="7">
                  <c:v>116401.99</c:v>
                </c:pt>
                <c:pt idx="8">
                  <c:v>157865.43</c:v>
                </c:pt>
                <c:pt idx="9">
                  <c:v>163051.46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C8-4660-BEF2-FB46945FF2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DE3E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24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65-43F1-8F90-213CFE87CF77}"/>
              </c:ext>
            </c:extLst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65-43F1-8F90-213CFE87CF7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65-43F1-8F90-213CFE87CF7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65-43F1-8F90-213CFE87CF7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United Kingdom</c:v>
                </c:pt>
                <c:pt idx="1">
                  <c:v>Rest of World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8194777.5300000003</c:v>
                </c:pt>
                <c:pt idx="1">
                  <c:v>1151832.6100000001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65-43F1-8F90-213CFE87C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57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754380"/>
            <a:ext cx="4572000" cy="457200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-824148" y="3429000"/>
            <a:ext cx="4114800" cy="41148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BUSINESS UNDERSTANDING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Internship Week 1 Task</a:t>
            </a:r>
            <a:endParaRPr lang="en-US" sz="4400" dirty="0"/>
          </a:p>
          <a:p>
            <a:pPr>
              <a:lnSpc>
                <a:spcPct val="105000"/>
              </a:lnSpc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Business Understanding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purchase behavior ahead of a product recommendation system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8288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Farooq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AIMLB01-9835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II (2009–2010, UK-based retailer)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B778A8-4A8F-5802-F6E1-E42412C39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556" y="-222662"/>
            <a:ext cx="5619700" cy="561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Task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92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wants to understand customer purchase behavior before investing in a product recommendation system. Acting as a data analyst, this task explores real transaction data to surface patterns, quality issues, and business insight ahead of any modeling 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E9EE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630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520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customers?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178808"/>
            <a:ext cx="457200" cy="457200"/>
          </a:xfrm>
          <a:prstGeom prst="ellipse">
            <a:avLst/>
          </a:prstGeom>
          <a:solidFill>
            <a:srgbClr val="E9EE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885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417880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products sell the most?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4837176"/>
            <a:ext cx="457200" cy="457200"/>
          </a:xfrm>
          <a:prstGeom prst="ellipse">
            <a:avLst/>
          </a:prstGeom>
          <a:solidFill>
            <a:srgbClr val="E9EEF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94690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8371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drive revenue?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452360" y="178308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F7F8FA"/>
          </a:solidFill>
          <a:ln/>
          <a:effectLst>
            <a:outerShdw blurRad="101600" dist="38100" dir="5400000" algn="bl" rotWithShape="0">
              <a:srgbClr val="9AA5B5">
                <a:alpha val="18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777240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Report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772400" y="2468880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&amp; quality audit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&amp; duplicate detection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products (qty &amp; revenue)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sales performance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outlier analysis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insights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“Online Retail II” — real invoice-level transactions from a UK-based online retailer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1624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385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525,461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162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9385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182880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16244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385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2009–2010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85216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03920" y="182880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162447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9385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0392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Structure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64240" cy="2331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invoice / transaction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(item)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purchased per 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&amp; time of 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 (£)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customer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Customer's 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&amp; Duplicate Rows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 were removed at this stage — observation only, per task requirements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/>
          <a:effectLst>
            <a:outerShdw blurRad="101600" dist="38100" dir="5400000" algn="bl" rotWithShape="0">
              <a:srgbClr val="9AA5B5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97180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107,927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3484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20.54%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3218688"/>
            <a:ext cx="4800600" cy="82296"/>
          </a:xfrm>
          <a:prstGeom prst="rect">
            <a:avLst/>
          </a:prstGeom>
          <a:solidFill>
            <a:srgbClr val="E3E7EE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3218688"/>
            <a:ext cx="986043" cy="82296"/>
          </a:xfrm>
          <a:prstGeom prst="rect">
            <a:avLst/>
          </a:prstGeom>
          <a:solidFill>
            <a:srgbClr val="162447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657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7180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2,928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434840" y="3657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0.56%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68680" y="4133088"/>
            <a:ext cx="4800600" cy="82296"/>
          </a:xfrm>
          <a:prstGeom prst="rect">
            <a:avLst/>
          </a:prstGeom>
          <a:solidFill>
            <a:srgbClr val="E3E7EE"/>
          </a:solidFill>
          <a:ln/>
        </p:spPr>
      </p:sp>
      <p:sp>
        <p:nvSpPr>
          <p:cNvPr id="17" name="Shape 14"/>
          <p:cNvSpPr/>
          <p:nvPr/>
        </p:nvSpPr>
        <p:spPr>
          <a:xfrm>
            <a:off x="868680" y="4133088"/>
            <a:ext cx="26883" cy="82296"/>
          </a:xfrm>
          <a:prstGeom prst="rect">
            <a:avLst/>
          </a:prstGeom>
          <a:solidFill>
            <a:srgbClr val="162447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is missing for roughly 1 in 5 transactions — these rows cannot be tied to an individual shopper, a key constraint for building a customer-level recommendation system.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17920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62447"/>
          </a:solidFill>
          <a:ln/>
          <a:effectLst>
            <a:outerShdw blurRad="101600" dist="38100" dir="5400000" algn="bl" rotWithShape="0">
              <a:srgbClr val="9AA5B5">
                <a:alpha val="15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9516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Rows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217920" y="274320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6,865</a:t>
            </a:r>
            <a:endParaRPr lang="en-US" sz="5800" dirty="0"/>
          </a:p>
        </p:txBody>
      </p:sp>
      <p:sp>
        <p:nvSpPr>
          <p:cNvPr id="23" name="Text 19"/>
          <p:cNvSpPr/>
          <p:nvPr/>
        </p:nvSpPr>
        <p:spPr>
          <a:xfrm>
            <a:off x="6217920" y="3794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 (1.31% of all records)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37960" y="4434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likely stem from repeated exports or re-entered line items. They inflate quantity and revenue totals if left untreated, so they are flagged here for cleaning in a later stage — not removed now, per this task's observation-only rule.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Best-Selling Products — by Quantity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move the most volume?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11247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Best-Selling Products — by Revenue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generate the most income (£)?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11247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Leaders ≠ Revenue Leaders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of the top 10 best-sellers by quantity also rank in the top 10 by revenue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F3A5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94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Volume, Low Value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high-turnover items dominate unit sales: cake cases, bird ornaments, and popcorn holders sell in the tens of thousands but individually contribute little revenue each.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PACK OF 72 RETRO SPOT CAKE CASES — 46,106 units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D9A44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94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Volume, High Value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REGENCY CAKESTAND 3 TIER tops revenue at £163K despite far lower unit sales than the volume leaders — a higher price point drives outsized income per sale.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537960" y="3794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A4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Notably, "DOTCOM POSTAGE" and "POSTAGE" rank in the revenue top 10 — these are shipping charges, not real products.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by Country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drives the overwhelming majority of revenue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583680" cy="422452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(£)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4,429,046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8,194,777.53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188,704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352,242.73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Netherlands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181,823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263,863.41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196,290.35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74,471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130,769.90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51,213.51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227,030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46,972.95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Switzerland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43,343.41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37,084.90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30,051.80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Concentration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406640" y="228600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7406640" y="5257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~87.7% of total revenue originates from the UK — an important concentration risk to flag for the business.</a:t>
            </a:r>
            <a:endParaRPr lang="en-US" sz="1150" dirty="0"/>
          </a:p>
        </p:txBody>
      </p:sp>
      <p:sp>
        <p:nvSpPr>
          <p:cNvPr id="5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 (2009–2010)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builds steadily through the year, peaking in the pre-holiday months</a:t>
            </a:r>
            <a:endParaRPr lang="en-US" sz="1400" dirty="0"/>
          </a:p>
        </p:txBody>
      </p:sp>
      <p:pic>
        <p:nvPicPr>
          <p:cNvPr id="5" name="Image 0" descr="/home/claude/imgs/monthly_reven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1874520"/>
            <a:ext cx="923544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the dataset's numerical features</a:t>
            </a:r>
            <a:endParaRPr lang="en-US" sz="1400" dirty="0"/>
          </a:p>
        </p:txBody>
      </p:sp>
      <p:pic>
        <p:nvPicPr>
          <p:cNvPr id="5" name="Image 0" descr="/home/claude/imgs/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783080"/>
            <a:ext cx="55778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783080"/>
            <a:ext cx="4663440" cy="4526280"/>
          </a:xfrm>
          <a:prstGeom prst="roundRect">
            <a:avLst>
              <a:gd name="adj" fmla="val 1616"/>
            </a:avLst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Matrix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23760" y="251460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and Revenue show a moderate positive correlation — expected, since revenue is derived directly from quantity.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correlates weakly with Quantity and Revenue — higher-priced items are not necessarily bought in bulk.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shows negligible correlation with all numeric fields, as expected for an identifier.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multicollinearity is present, which is favorable for future predictive modeling.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— Quantity &amp; Price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reveal a small number of extreme values that will need attention before modeling</a:t>
            </a:r>
            <a:endParaRPr lang="en-US" sz="1400" dirty="0"/>
          </a:p>
        </p:txBody>
      </p:sp>
      <p:pic>
        <p:nvPicPr>
          <p:cNvPr id="5" name="Image 0" descr="/home/claude/imgs/boxplo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828800"/>
            <a:ext cx="1033272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Quantity and Price show long tails, with a handful of transactions far outside the typical range — including bulk wholesale-style orders and a few unusually high or negative unit values (returns/cancellations).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the business, before any modeling begins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1F3A5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9751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highly UK-concentrated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3317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contributes ~87.7% of total revenue, followed distantly by EIRE and the Netherlands — a geographic concentration risk worth diversifying against.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1F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0574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19751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 by volume differ from best-sellers by value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23317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High-turnover, low-cost items (cake cases, ornaments) drive unit sales, while higher-priced items like the Regency Cakestand drive revenue — assortment and marketing strategy should treat these differently.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74904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666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~20.5% of transactions lack a Customer 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0233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107,000 rows cannot be linked to a specific shopper, limiting their usefulness for a customer-level recommendation system without further cleaning.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352044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1F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374904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666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charges appear as “products” in revenue rankings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40233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“DOTCOM POSTAGE” and “POSTAGE” rank in the top 10 by revenue — these are fees, not merchandise, and should be excluded from product-level analysis.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1F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44068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5358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seasonal, peaking pre-holidays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57150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trends upward through the year, suggesting demand planning and recommendation logic should account for seasonality.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521208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1F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7960" y="544068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86600" y="5358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need resolution before modeling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57150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6,865 duplicate rows and outlier values in Quantity/Price should be cleaned and validated before any recommendation model is trained.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this dataset for a recommendation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194560"/>
            <a:ext cx="640080" cy="64008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before modeling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resolve missing Customer IDs, and separate fee line-items (postage) from real products.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4229100" y="2194560"/>
            <a:ext cx="640080" cy="64008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12" name="Text 10"/>
          <p:cNvSpPr/>
          <p:nvPr/>
        </p:nvSpPr>
        <p:spPr>
          <a:xfrm>
            <a:off x="42291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outliers deliberately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9000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extreme Quantity/Price values — distinguish bulk B2B orders and returns from genuine data errors.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972300" y="2194560"/>
            <a:ext cx="640080" cy="64008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69723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geography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72200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UK and non-UK models or strategies separately, given the scale difference in transaction volume.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0" y="192024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715500" y="2194560"/>
            <a:ext cx="640080" cy="64008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22" name="Text 20"/>
          <p:cNvSpPr/>
          <p:nvPr/>
        </p:nvSpPr>
        <p:spPr>
          <a:xfrm>
            <a:off x="97155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91540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customer-level features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915400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IDs are validated, aggregate RFM (Recency, Frequency, Monetary) features to power the recommendation engine.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notebook-based EDA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9EE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00253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63440" y="18745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data loading, transformation, and analysis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E9EEF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77977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63440" y="26517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wrangling, aggregation, and numerical operations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E9EEF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55701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429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63440" y="34290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— trend lines, heatmaps, and box plots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E9EEF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334256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663440" y="42062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top-to-bottom reproducible analysis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62447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3095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507492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runs end-to-end without errors, with titled, labeled, and legended plots throughout — fulfilling all Week 1 task requirements.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Exploratory Data Analysis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566160"/>
            <a:ext cx="18288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31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87705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: https://github.com/Hassanfarooqbaloch/online-retail-eda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80160" y="437997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 |  Data Analysis &amp; Business Understanding — Week 1 Task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1302</Words>
  <Application>Microsoft Office PowerPoint</Application>
  <PresentationFormat>Widescreen</PresentationFormat>
  <Paragraphs>247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Retail II — Exploratory Data Analysis</dc:title>
  <dc:subject>PptxGenJS Presentation</dc:subject>
  <dc:creator>Hassan</dc:creator>
  <cp:lastModifiedBy>Hassan Farooq Baloch</cp:lastModifiedBy>
  <cp:revision>4</cp:revision>
  <dcterms:created xsi:type="dcterms:W3CDTF">2026-07-04T09:11:42Z</dcterms:created>
  <dcterms:modified xsi:type="dcterms:W3CDTF">2026-07-04T09:37:12Z</dcterms:modified>
</cp:coreProperties>
</file>